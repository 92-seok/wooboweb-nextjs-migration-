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43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29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64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973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6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061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5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085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87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3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739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756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C84CA-6603-42F2-B2D6-5011B6E0BE5B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7BE956-4A88-46B2-B4A7-B63AC37B0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886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70222811-70B5-6E62-81C9-1464763CDB7C}"/>
              </a:ext>
            </a:extLst>
          </p:cNvPr>
          <p:cNvPicPr preferRelativeResize="0"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410" y="2287522"/>
            <a:ext cx="2874590" cy="1460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74D9762-6532-C527-6B3C-2174491A2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0419021"/>
              </p:ext>
            </p:extLst>
          </p:nvPr>
        </p:nvGraphicFramePr>
        <p:xfrm>
          <a:off x="3414903" y="4124114"/>
          <a:ext cx="3149952" cy="1962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88">
                  <a:extLst>
                    <a:ext uri="{9D8B030D-6E8A-4147-A177-3AD203B41FA5}">
                      <a16:colId xmlns:a16="http://schemas.microsoft.com/office/drawing/2014/main" val="2779784430"/>
                    </a:ext>
                  </a:extLst>
                </a:gridCol>
                <a:gridCol w="787488">
                  <a:extLst>
                    <a:ext uri="{9D8B030D-6E8A-4147-A177-3AD203B41FA5}">
                      <a16:colId xmlns:a16="http://schemas.microsoft.com/office/drawing/2014/main" val="54878967"/>
                    </a:ext>
                  </a:extLst>
                </a:gridCol>
                <a:gridCol w="787488">
                  <a:extLst>
                    <a:ext uri="{9D8B030D-6E8A-4147-A177-3AD203B41FA5}">
                      <a16:colId xmlns:a16="http://schemas.microsoft.com/office/drawing/2014/main" val="264790245"/>
                    </a:ext>
                  </a:extLst>
                </a:gridCol>
                <a:gridCol w="787488">
                  <a:extLst>
                    <a:ext uri="{9D8B030D-6E8A-4147-A177-3AD203B41FA5}">
                      <a16:colId xmlns:a16="http://schemas.microsoft.com/office/drawing/2014/main" val="522922594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일    시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수 위 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en-US" altLang="ko-KR" sz="800" b="1" dirty="0" err="1"/>
                        <a:t>El.m</a:t>
                      </a:r>
                      <a:r>
                        <a:rPr lang="en-US" altLang="ko-KR" sz="800" b="1" dirty="0"/>
                        <a:t>)</a:t>
                      </a:r>
                      <a:endParaRPr lang="ko-KR" altLang="en-US" sz="8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유 속 </a:t>
                      </a:r>
                      <a:r>
                        <a:rPr lang="en-US" altLang="ko-KR" sz="800" b="1" dirty="0"/>
                        <a:t>(m/s)</a:t>
                      </a:r>
                      <a:endParaRPr lang="ko-KR" altLang="en-US" sz="8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유 량 </a:t>
                      </a:r>
                      <a:r>
                        <a:rPr lang="en-US" altLang="ko-KR" sz="800" b="1" dirty="0"/>
                        <a:t>(</a:t>
                      </a:r>
                      <a:r>
                        <a:rPr lang="ko-KR" altLang="en-US" sz="800" b="1" dirty="0"/>
                        <a:t>㎥</a:t>
                      </a:r>
                      <a:r>
                        <a:rPr lang="en-US" altLang="ko-KR" sz="800" b="1" dirty="0"/>
                        <a:t>/s)</a:t>
                      </a:r>
                      <a:endParaRPr lang="ko-KR" altLang="en-US" sz="800" b="1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67426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08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270.512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0.209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0.029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752191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07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270.498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0.208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0.028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05442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06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270.457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0.202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0.022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39902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05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270.402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0.205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0.025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705568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04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270.354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0.209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0.029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32154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03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270.217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0.204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0.024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37767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02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270.189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0.027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957064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01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270.174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0.207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0.027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342106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시 </a:t>
                      </a:r>
                      <a:r>
                        <a:rPr lang="en-US" altLang="ko-KR" sz="800" b="1" dirty="0"/>
                        <a:t>00</a:t>
                      </a:r>
                      <a:r>
                        <a:rPr lang="ko-KR" altLang="en-US" sz="800" b="1" dirty="0"/>
                        <a:t>분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270.165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0.200</a:t>
                      </a:r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0.020</a:t>
                      </a:r>
                      <a:endParaRPr lang="ko-KR" altLang="en-US" sz="800" dirty="0"/>
                    </a:p>
                  </a:txBody>
                  <a:tcPr marL="74295" marR="74295" marT="37148" marB="37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6238057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2FFC3C89-FFE9-6A8A-E6C7-449DE4D036D4}"/>
              </a:ext>
            </a:extLst>
          </p:cNvPr>
          <p:cNvSpPr/>
          <p:nvPr/>
        </p:nvSpPr>
        <p:spPr>
          <a:xfrm>
            <a:off x="545359" y="2046329"/>
            <a:ext cx="2883642" cy="234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OOO </a:t>
            </a:r>
            <a:r>
              <a:rPr lang="ko-KR" altLang="en-US" sz="1000" b="1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5A9F54-379B-E9BA-8FB2-F9CC8D7143B7}"/>
              </a:ext>
            </a:extLst>
          </p:cNvPr>
          <p:cNvSpPr txBox="1"/>
          <p:nvPr/>
        </p:nvSpPr>
        <p:spPr>
          <a:xfrm>
            <a:off x="349175" y="1760277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 계측시설 정보</a:t>
            </a:r>
            <a:endParaRPr lang="en-US" altLang="ko-KR" sz="12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2DEEFED0-56C2-354A-9831-E35C32642C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982678"/>
              </p:ext>
            </p:extLst>
          </p:nvPr>
        </p:nvGraphicFramePr>
        <p:xfrm>
          <a:off x="545359" y="6487879"/>
          <a:ext cx="6019496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5208">
                  <a:extLst>
                    <a:ext uri="{9D8B030D-6E8A-4147-A177-3AD203B41FA5}">
                      <a16:colId xmlns:a16="http://schemas.microsoft.com/office/drawing/2014/main" val="2665734603"/>
                    </a:ext>
                  </a:extLst>
                </a:gridCol>
                <a:gridCol w="1558096">
                  <a:extLst>
                    <a:ext uri="{9D8B030D-6E8A-4147-A177-3AD203B41FA5}">
                      <a16:colId xmlns:a16="http://schemas.microsoft.com/office/drawing/2014/main" val="358346546"/>
                    </a:ext>
                  </a:extLst>
                </a:gridCol>
                <a:gridCol w="1558096">
                  <a:extLst>
                    <a:ext uri="{9D8B030D-6E8A-4147-A177-3AD203B41FA5}">
                      <a16:colId xmlns:a16="http://schemas.microsoft.com/office/drawing/2014/main" val="1099010026"/>
                    </a:ext>
                  </a:extLst>
                </a:gridCol>
                <a:gridCol w="1558096">
                  <a:extLst>
                    <a:ext uri="{9D8B030D-6E8A-4147-A177-3AD203B41FA5}">
                      <a16:colId xmlns:a16="http://schemas.microsoft.com/office/drawing/2014/main" val="2053598460"/>
                    </a:ext>
                  </a:extLst>
                </a:gridCol>
              </a:tblGrid>
              <a:tr h="182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장  비 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시 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데 이 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  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5398755"/>
                  </a:ext>
                </a:extLst>
              </a:tr>
              <a:tr h="18280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수  위  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2025-09-03 08:00:00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270.512 </a:t>
                      </a:r>
                      <a:r>
                        <a:rPr lang="en-US" altLang="ko-KR" sz="800" dirty="0" err="1"/>
                        <a:t>El.m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  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58373"/>
                  </a:ext>
                </a:extLst>
              </a:tr>
              <a:tr h="182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/>
                        <a:t>유  속  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2025-09-03 08:00:00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0.209 </a:t>
                      </a:r>
                      <a:r>
                        <a:rPr lang="en-US" altLang="ko-KR" sz="800" b="0" dirty="0"/>
                        <a:t>m/s</a:t>
                      </a:r>
                      <a:endParaRPr lang="ko-KR" altLang="en-US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  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46900"/>
                  </a:ext>
                </a:extLst>
              </a:tr>
              <a:tr h="1828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/>
                        <a:t>유  속  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2025-09-03 08:00:00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0.029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en-US" sz="800" b="0" dirty="0"/>
                        <a:t>㎥</a:t>
                      </a:r>
                      <a:r>
                        <a:rPr lang="en-US" altLang="ko-KR" sz="800" b="0" dirty="0"/>
                        <a:t>/s</a:t>
                      </a:r>
                      <a:endParaRPr lang="ko-KR" altLang="en-US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  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39944"/>
                  </a:ext>
                </a:extLst>
              </a:tr>
              <a:tr h="1828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UPS </a:t>
                      </a:r>
                      <a:r>
                        <a:rPr lang="ko-KR" altLang="en-US" sz="800" b="0" dirty="0"/>
                        <a:t>전 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2025-09-03 08:00:00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220.0 </a:t>
                      </a:r>
                      <a:r>
                        <a:rPr lang="en-US" altLang="ko-KR" sz="800" b="0" dirty="0"/>
                        <a:t>V</a:t>
                      </a:r>
                      <a:endParaRPr lang="ko-KR" altLang="en-US" sz="8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  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601065"/>
                  </a:ext>
                </a:extLst>
              </a:tr>
              <a:tr h="18280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재난안전연구원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연계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2025-09-03 08:00:00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OK</a:t>
                      </a:r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정  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07505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DFBCD2E3-C575-9C7D-88FE-5B092BE4FDA8}"/>
              </a:ext>
            </a:extLst>
          </p:cNvPr>
          <p:cNvSpPr txBox="1"/>
          <p:nvPr/>
        </p:nvSpPr>
        <p:spPr>
          <a:xfrm>
            <a:off x="349175" y="3830536"/>
            <a:ext cx="1172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계측 데이터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C544A31-C19C-5AA2-C776-CCADC4972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07425"/>
              </p:ext>
            </p:extLst>
          </p:nvPr>
        </p:nvGraphicFramePr>
        <p:xfrm>
          <a:off x="3429000" y="2046329"/>
          <a:ext cx="3135856" cy="1706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3964">
                  <a:extLst>
                    <a:ext uri="{9D8B030D-6E8A-4147-A177-3AD203B41FA5}">
                      <a16:colId xmlns:a16="http://schemas.microsoft.com/office/drawing/2014/main" val="2665734603"/>
                    </a:ext>
                  </a:extLst>
                </a:gridCol>
                <a:gridCol w="783964">
                  <a:extLst>
                    <a:ext uri="{9D8B030D-6E8A-4147-A177-3AD203B41FA5}">
                      <a16:colId xmlns:a16="http://schemas.microsoft.com/office/drawing/2014/main" val="2214102283"/>
                    </a:ext>
                  </a:extLst>
                </a:gridCol>
                <a:gridCol w="783964">
                  <a:extLst>
                    <a:ext uri="{9D8B030D-6E8A-4147-A177-3AD203B41FA5}">
                      <a16:colId xmlns:a16="http://schemas.microsoft.com/office/drawing/2014/main" val="4132423938"/>
                    </a:ext>
                  </a:extLst>
                </a:gridCol>
                <a:gridCol w="783964">
                  <a:extLst>
                    <a:ext uri="{9D8B030D-6E8A-4147-A177-3AD203B41FA5}">
                      <a16:colId xmlns:a16="http://schemas.microsoft.com/office/drawing/2014/main" val="358346546"/>
                    </a:ext>
                  </a:extLst>
                </a:gridCol>
              </a:tblGrid>
              <a:tr h="221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주    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/>
                        <a:t>OO</a:t>
                      </a:r>
                      <a:r>
                        <a:rPr lang="ko-KR" altLang="en-US" sz="1000" b="0" dirty="0"/>
                        <a:t>시 </a:t>
                      </a:r>
                      <a:r>
                        <a:rPr lang="en-US" altLang="ko-KR" sz="1000" b="0" dirty="0"/>
                        <a:t>OOO</a:t>
                      </a:r>
                      <a:r>
                        <a:rPr lang="ko-KR" altLang="en-US" sz="1000" b="0" dirty="0"/>
                        <a:t>로 </a:t>
                      </a:r>
                      <a:r>
                        <a:rPr lang="en-US" altLang="ko-KR" sz="1000" b="0" dirty="0"/>
                        <a:t>100</a:t>
                      </a:r>
                      <a:r>
                        <a:rPr lang="ko-KR" altLang="en-US" sz="1000" b="0" dirty="0" err="1"/>
                        <a:t>번길</a:t>
                      </a:r>
                      <a:endParaRPr lang="ko-KR" altLang="en-US" sz="1000" b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58373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위    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37.5665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경    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126.9870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446900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다리 높이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3.0 m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표    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270.0 </a:t>
                      </a:r>
                      <a:r>
                        <a:rPr lang="en-US" altLang="ko-KR" sz="1000" dirty="0" err="1"/>
                        <a:t>El.m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739944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현재 수위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0.5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현재 수위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270.5 </a:t>
                      </a:r>
                      <a:r>
                        <a:rPr lang="en-US" altLang="ko-KR" sz="1000" b="1" dirty="0" err="1"/>
                        <a:t>El.m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601065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심각</a:t>
                      </a:r>
                      <a:r>
                        <a:rPr lang="en-US" altLang="ko-KR" sz="1000" b="1" dirty="0"/>
                        <a:t>(90%)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2.7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심각</a:t>
                      </a:r>
                      <a:r>
                        <a:rPr lang="en-US" altLang="ko-KR" sz="1000" b="1" dirty="0"/>
                        <a:t>(90%)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272.7 </a:t>
                      </a:r>
                      <a:r>
                        <a:rPr lang="en-US" altLang="ko-KR" sz="1000" dirty="0" err="1"/>
                        <a:t>El.m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407505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경계</a:t>
                      </a:r>
                      <a:r>
                        <a:rPr lang="en-US" altLang="ko-KR" sz="1000" b="1" dirty="0"/>
                        <a:t>(80%)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2.4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경계</a:t>
                      </a:r>
                      <a:r>
                        <a:rPr lang="en-US" altLang="ko-KR" sz="1000" b="1" dirty="0"/>
                        <a:t>(80%)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272.4 </a:t>
                      </a:r>
                      <a:r>
                        <a:rPr lang="en-US" altLang="ko-KR" sz="1000" dirty="0" err="1"/>
                        <a:t>El.m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019819"/>
                  </a:ext>
                </a:extLst>
              </a:tr>
              <a:tr h="221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주의</a:t>
                      </a:r>
                      <a:r>
                        <a:rPr lang="en-US" altLang="ko-KR" sz="1000" b="1" dirty="0"/>
                        <a:t>(70%)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2.1 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주의</a:t>
                      </a:r>
                      <a:r>
                        <a:rPr lang="en-US" altLang="ko-KR" sz="1000" b="1" dirty="0"/>
                        <a:t>(70%)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272.1 </a:t>
                      </a:r>
                      <a:r>
                        <a:rPr lang="en-US" altLang="ko-KR" sz="1000" dirty="0" err="1"/>
                        <a:t>El.m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963466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18819C25-716C-12F6-7776-342D2F476124}"/>
              </a:ext>
            </a:extLst>
          </p:cNvPr>
          <p:cNvSpPr txBox="1"/>
          <p:nvPr/>
        </p:nvSpPr>
        <p:spPr>
          <a:xfrm>
            <a:off x="349175" y="7854793"/>
            <a:ext cx="20233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기상특보목록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최근 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5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건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E8F12B0-8447-7EAE-4FCF-B03C51C97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770350"/>
              </p:ext>
            </p:extLst>
          </p:nvPr>
        </p:nvGraphicFramePr>
        <p:xfrm>
          <a:off x="545360" y="8145723"/>
          <a:ext cx="6019496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9242">
                  <a:extLst>
                    <a:ext uri="{9D8B030D-6E8A-4147-A177-3AD203B41FA5}">
                      <a16:colId xmlns:a16="http://schemas.microsoft.com/office/drawing/2014/main" val="1672999003"/>
                    </a:ext>
                  </a:extLst>
                </a:gridCol>
                <a:gridCol w="4600254">
                  <a:extLst>
                    <a:ext uri="{9D8B030D-6E8A-4147-A177-3AD203B41FA5}">
                      <a16:colId xmlns:a16="http://schemas.microsoft.com/office/drawing/2014/main" val="1091712235"/>
                    </a:ext>
                  </a:extLst>
                </a:gridCol>
              </a:tblGrid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발표시각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/>
                        <a:t>특</a:t>
                      </a:r>
                      <a:r>
                        <a:rPr lang="ko-KR" altLang="en-US" sz="900" b="1" dirty="0"/>
                        <a:t> 보 현 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618713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14:00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09-14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2025.09.02.14:00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호우경보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·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해제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40273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12:30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09-13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2025.09.02.12:30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호우경보 변경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·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348095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12:15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09-12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2025.09.02.12:15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2313863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11:50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09-11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2025.09.02.11:50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호우경보 변경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·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270186"/>
                  </a:ext>
                </a:extLst>
              </a:tr>
              <a:tr h="19154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2025-09-02 11:20</a:t>
                      </a:r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[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특보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]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09-10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: 2025.09.02.11:20 /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</a:rPr>
                        <a:t>호우주의보 발표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</a:rPr>
                        <a:t>(*)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202551"/>
                  </a:ext>
                </a:extLst>
              </a:tr>
            </a:tbl>
          </a:graphicData>
        </a:graphic>
      </p:graphicFrame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194D4B3-0A98-7C06-BC81-D83D237A5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59893"/>
              </p:ext>
            </p:extLst>
          </p:nvPr>
        </p:nvGraphicFramePr>
        <p:xfrm>
          <a:off x="455629" y="242218"/>
          <a:ext cx="6116165" cy="684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9139">
                  <a:extLst>
                    <a:ext uri="{9D8B030D-6E8A-4147-A177-3AD203B41FA5}">
                      <a16:colId xmlns:a16="http://schemas.microsoft.com/office/drawing/2014/main" val="4155524957"/>
                    </a:ext>
                  </a:extLst>
                </a:gridCol>
                <a:gridCol w="4001632">
                  <a:extLst>
                    <a:ext uri="{9D8B030D-6E8A-4147-A177-3AD203B41FA5}">
                      <a16:colId xmlns:a16="http://schemas.microsoft.com/office/drawing/2014/main" val="3768397891"/>
                    </a:ext>
                  </a:extLst>
                </a:gridCol>
                <a:gridCol w="1085394">
                  <a:extLst>
                    <a:ext uri="{9D8B030D-6E8A-4147-A177-3AD203B41FA5}">
                      <a16:colId xmlns:a16="http://schemas.microsoft.com/office/drawing/2014/main" val="3344634442"/>
                    </a:ext>
                  </a:extLst>
                </a:gridCol>
              </a:tblGrid>
              <a:tr h="684839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OOO</a:t>
                      </a:r>
                      <a:r>
                        <a:rPr lang="ko-KR" altLang="en-US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청</a:t>
                      </a:r>
                      <a:endParaRPr lang="en-US" altLang="ko-KR" sz="10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소하천</a:t>
                      </a:r>
                      <a:r>
                        <a:rPr lang="ko-KR" altLang="en-US" sz="3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현황 보고서</a:t>
                      </a:r>
                      <a:endParaRPr lang="ko-KR" altLang="en-US" sz="32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25. 9. 3 (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수</a:t>
                      </a: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  <a:endParaRPr lang="ko-KR" altLang="en-US" sz="12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3016084"/>
                  </a:ext>
                </a:extLst>
              </a:tr>
            </a:tbl>
          </a:graphicData>
        </a:graphic>
      </p:graphicFrame>
      <p:pic>
        <p:nvPicPr>
          <p:cNvPr id="17" name="그림 16">
            <a:extLst>
              <a:ext uri="{FF2B5EF4-FFF2-40B4-BE49-F238E27FC236}">
                <a16:creationId xmlns:a16="http://schemas.microsoft.com/office/drawing/2014/main" id="{7E3E53A8-A07C-0CF1-900D-A7FFB2665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93" y="318123"/>
            <a:ext cx="377711" cy="370447"/>
          </a:xfrm>
          <a:prstGeom prst="rect">
            <a:avLst/>
          </a:prstGeom>
        </p:spPr>
      </p:pic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D9274D1-A715-9B38-B269-AA5A695EE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71559"/>
              </p:ext>
            </p:extLst>
          </p:nvPr>
        </p:nvGraphicFramePr>
        <p:xfrm>
          <a:off x="451306" y="922127"/>
          <a:ext cx="6116166" cy="721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3462">
                  <a:extLst>
                    <a:ext uri="{9D8B030D-6E8A-4147-A177-3AD203B41FA5}">
                      <a16:colId xmlns:a16="http://schemas.microsoft.com/office/drawing/2014/main" val="3643397724"/>
                    </a:ext>
                  </a:extLst>
                </a:gridCol>
                <a:gridCol w="1095470">
                  <a:extLst>
                    <a:ext uri="{9D8B030D-6E8A-4147-A177-3AD203B41FA5}">
                      <a16:colId xmlns:a16="http://schemas.microsoft.com/office/drawing/2014/main" val="247736849"/>
                    </a:ext>
                  </a:extLst>
                </a:gridCol>
                <a:gridCol w="2000815">
                  <a:extLst>
                    <a:ext uri="{9D8B030D-6E8A-4147-A177-3AD203B41FA5}">
                      <a16:colId xmlns:a16="http://schemas.microsoft.com/office/drawing/2014/main" val="140703352"/>
                    </a:ext>
                  </a:extLst>
                </a:gridCol>
                <a:gridCol w="896294">
                  <a:extLst>
                    <a:ext uri="{9D8B030D-6E8A-4147-A177-3AD203B41FA5}">
                      <a16:colId xmlns:a16="http://schemas.microsoft.com/office/drawing/2014/main" val="2040066888"/>
                    </a:ext>
                  </a:extLst>
                </a:gridCol>
                <a:gridCol w="1090125">
                  <a:extLst>
                    <a:ext uri="{9D8B030D-6E8A-4147-A177-3AD203B41FA5}">
                      <a16:colId xmlns:a16="http://schemas.microsoft.com/office/drawing/2014/main" val="804385099"/>
                    </a:ext>
                  </a:extLst>
                </a:gridCol>
              </a:tblGrid>
              <a:tr h="342420">
                <a:tc rowSpan="3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OOO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과</a:t>
                      </a:r>
                      <a:b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</a:br>
                      <a:r>
                        <a:rPr lang="en-US" altLang="ko-KR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 </a:t>
                      </a: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과    장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endParaRPr lang="en-US" altLang="ko-KR" sz="1200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전 화</a:t>
                      </a:r>
                      <a:endParaRPr lang="en-US" altLang="ko-KR" sz="12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000-000-0000</a:t>
                      </a:r>
                      <a:endParaRPr lang="ko-KR" altLang="en-US" sz="10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46538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담당자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r>
                        <a:rPr lang="en-US" altLang="ko-KR" sz="1200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en-US" altLang="ko-KR" sz="1200" dirty="0" err="1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</a:t>
                      </a:r>
                      <a:endParaRPr lang="ko-KR" alt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6656"/>
                  </a:ext>
                </a:extLst>
              </a:tr>
              <a:tr h="354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000-000-0000</a:t>
                      </a:r>
                      <a:endParaRPr lang="ko-KR" altLang="en-US" sz="800" b="1" dirty="0"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640151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BC3C9B55-D638-50AC-EDBC-8BA9AE268B2E}"/>
              </a:ext>
            </a:extLst>
          </p:cNvPr>
          <p:cNvSpPr txBox="1"/>
          <p:nvPr/>
        </p:nvSpPr>
        <p:spPr>
          <a:xfrm>
            <a:off x="349175" y="6201827"/>
            <a:ext cx="1372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en-US" altLang="ko-KR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200" b="1" dirty="0">
                <a:latin typeface="굴림" panose="020B0600000101010101" pitchFamily="50" charset="-127"/>
                <a:ea typeface="굴림" panose="020B0600000101010101" pitchFamily="50" charset="-127"/>
              </a:rPr>
              <a:t>계측 장비 상태</a:t>
            </a: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BD8DF1A9-7D9A-48A8-0EB8-A51F150CD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1400"/>
              </p:ext>
            </p:extLst>
          </p:nvPr>
        </p:nvGraphicFramePr>
        <p:xfrm>
          <a:off x="563463" y="4123505"/>
          <a:ext cx="2853294" cy="1969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294">
                  <a:extLst>
                    <a:ext uri="{9D8B030D-6E8A-4147-A177-3AD203B41FA5}">
                      <a16:colId xmlns:a16="http://schemas.microsoft.com/office/drawing/2014/main" val="716783735"/>
                    </a:ext>
                  </a:extLst>
                </a:gridCol>
              </a:tblGrid>
              <a:tr h="1969988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923158"/>
                  </a:ext>
                </a:extLst>
              </a:tr>
            </a:tbl>
          </a:graphicData>
        </a:graphic>
      </p:graphicFrame>
      <p:pic>
        <p:nvPicPr>
          <p:cNvPr id="38" name="그림 37">
            <a:extLst>
              <a:ext uri="{FF2B5EF4-FFF2-40B4-BE49-F238E27FC236}">
                <a16:creationId xmlns:a16="http://schemas.microsoft.com/office/drawing/2014/main" id="{87D582C7-8CB8-A1F5-E13B-D157A37CA1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87"/>
          <a:stretch>
            <a:fillRect/>
          </a:stretch>
        </p:blipFill>
        <p:spPr>
          <a:xfrm>
            <a:off x="806777" y="4309850"/>
            <a:ext cx="2360806" cy="1607917"/>
          </a:xfrm>
          <a:prstGeom prst="rect">
            <a:avLst/>
          </a:prstGeom>
          <a:ln w="12700"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2B94FBD-6C6E-5F83-77B7-DBEE8B00BD8B}"/>
              </a:ext>
            </a:extLst>
          </p:cNvPr>
          <p:cNvSpPr txBox="1"/>
          <p:nvPr/>
        </p:nvSpPr>
        <p:spPr>
          <a:xfrm>
            <a:off x="2317219" y="5844097"/>
            <a:ext cx="11240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2025.9.3 08:00 (</a:t>
            </a:r>
            <a:r>
              <a:rPr lang="ko-KR" altLang="en-US" sz="800" b="1" dirty="0"/>
              <a:t>현재</a:t>
            </a:r>
            <a:r>
              <a:rPr lang="en-US" altLang="ko-KR" sz="800" b="1" dirty="0"/>
              <a:t>)</a:t>
            </a:r>
            <a:endParaRPr lang="ko-KR" altLang="en-US" sz="800" b="1" dirty="0"/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98FF917-7729-5332-E4C9-38EDAF3B8C7B}"/>
              </a:ext>
            </a:extLst>
          </p:cNvPr>
          <p:cNvCxnSpPr>
            <a:cxnSpLocks/>
          </p:cNvCxnSpPr>
          <p:nvPr/>
        </p:nvCxnSpPr>
        <p:spPr>
          <a:xfrm>
            <a:off x="1249378" y="4400750"/>
            <a:ext cx="17925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600679E9-5BF0-2C45-33FC-0F615FE811F7}"/>
              </a:ext>
            </a:extLst>
          </p:cNvPr>
          <p:cNvCxnSpPr>
            <a:cxnSpLocks/>
          </p:cNvCxnSpPr>
          <p:nvPr/>
        </p:nvCxnSpPr>
        <p:spPr>
          <a:xfrm>
            <a:off x="1249378" y="4483213"/>
            <a:ext cx="179258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58EF647-4D12-D604-27F1-AB1F65D36EE3}"/>
              </a:ext>
            </a:extLst>
          </p:cNvPr>
          <p:cNvCxnSpPr>
            <a:cxnSpLocks/>
          </p:cNvCxnSpPr>
          <p:nvPr/>
        </p:nvCxnSpPr>
        <p:spPr>
          <a:xfrm>
            <a:off x="1249378" y="4580241"/>
            <a:ext cx="1792586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536E2DE-157B-03FB-8ABB-8A882A0E27C6}"/>
              </a:ext>
            </a:extLst>
          </p:cNvPr>
          <p:cNvSpPr txBox="1"/>
          <p:nvPr/>
        </p:nvSpPr>
        <p:spPr>
          <a:xfrm>
            <a:off x="5088696" y="9612044"/>
            <a:ext cx="148309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굴림" panose="020B0600000101010101" pitchFamily="50" charset="-127"/>
                <a:ea typeface="굴림" panose="020B0600000101010101" pitchFamily="50" charset="-127"/>
              </a:rPr>
              <a:t>2025-09-03 08:00:00 </a:t>
            </a:r>
            <a:r>
              <a:rPr lang="ko-KR" altLang="en-US" sz="800" dirty="0">
                <a:latin typeface="굴림" panose="020B0600000101010101" pitchFamily="50" charset="-127"/>
                <a:ea typeface="굴림" panose="020B0600000101010101" pitchFamily="50" charset="-127"/>
              </a:rPr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199620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</TotalTime>
  <Words>362</Words>
  <Application>Microsoft Office PowerPoint</Application>
  <PresentationFormat>A4 용지(210x297mm)</PresentationFormat>
  <Paragraphs>120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굴림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15</cp:revision>
  <dcterms:created xsi:type="dcterms:W3CDTF">2025-09-02T23:53:51Z</dcterms:created>
  <dcterms:modified xsi:type="dcterms:W3CDTF">2025-09-03T03:40:24Z</dcterms:modified>
</cp:coreProperties>
</file>