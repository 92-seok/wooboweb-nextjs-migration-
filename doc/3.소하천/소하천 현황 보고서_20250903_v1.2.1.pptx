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0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4" autoAdjust="0"/>
    <p:restoredTop sz="94694" autoAdjust="0"/>
  </p:normalViewPr>
  <p:slideViewPr>
    <p:cSldViewPr snapToGrid="0">
      <p:cViewPr>
        <p:scale>
          <a:sx n="100" d="100"/>
          <a:sy n="100" d="100"/>
        </p:scale>
        <p:origin x="1548" y="-198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C84CA-6603-42F2-B2D6-5011B6E0BE5B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BE956-4A88-46B2-B4A7-B63AC37B0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7295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C84CA-6603-42F2-B2D6-5011B6E0BE5B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BE956-4A88-46B2-B4A7-B63AC37B0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649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C84CA-6603-42F2-B2D6-5011B6E0BE5B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BE956-4A88-46B2-B4A7-B63AC37B0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973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C84CA-6603-42F2-B2D6-5011B6E0BE5B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BE956-4A88-46B2-B4A7-B63AC37B0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8966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C84CA-6603-42F2-B2D6-5011B6E0BE5B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BE956-4A88-46B2-B4A7-B63AC37B0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5061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C84CA-6603-42F2-B2D6-5011B6E0BE5B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BE956-4A88-46B2-B4A7-B63AC37B0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857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C84CA-6603-42F2-B2D6-5011B6E0BE5B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BE956-4A88-46B2-B4A7-B63AC37B0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0857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C84CA-6603-42F2-B2D6-5011B6E0BE5B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BE956-4A88-46B2-B4A7-B63AC37B0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9879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C84CA-6603-42F2-B2D6-5011B6E0BE5B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BE956-4A88-46B2-B4A7-B63AC37B0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443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C84CA-6603-42F2-B2D6-5011B6E0BE5B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BE956-4A88-46B2-B4A7-B63AC37B0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739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C84CA-6603-42F2-B2D6-5011B6E0BE5B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BE956-4A88-46B2-B4A7-B63AC37B0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756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6C84CA-6603-42F2-B2D6-5011B6E0BE5B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7BE956-4A88-46B2-B4A7-B63AC37B0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886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31579-2345-C0B4-0450-A8266FA79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601D4236-3478-9241-F767-846AFFB2E909}"/>
              </a:ext>
            </a:extLst>
          </p:cNvPr>
          <p:cNvPicPr preferRelativeResize="0"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9150" y="2100832"/>
            <a:ext cx="4056830" cy="2170834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682C549C-7E59-C8C8-B84A-4E0B3E17C891}"/>
              </a:ext>
            </a:extLst>
          </p:cNvPr>
          <p:cNvSpPr/>
          <p:nvPr/>
        </p:nvSpPr>
        <p:spPr>
          <a:xfrm>
            <a:off x="373908" y="1842706"/>
            <a:ext cx="6225012" cy="234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OOO </a:t>
            </a:r>
            <a:r>
              <a:rPr lang="ko-KR" altLang="en-US" sz="10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FC6333-D46F-8024-36F6-A6CB332DC1F9}"/>
              </a:ext>
            </a:extLst>
          </p:cNvPr>
          <p:cNvSpPr txBox="1"/>
          <p:nvPr/>
        </p:nvSpPr>
        <p:spPr>
          <a:xfrm>
            <a:off x="272975" y="1550727"/>
            <a:ext cx="13260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□ 계측시설 정보</a:t>
            </a:r>
            <a:endParaRPr lang="en-US" altLang="ko-KR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166B002D-645D-262A-7A53-269B599E6A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711091"/>
              </p:ext>
            </p:extLst>
          </p:nvPr>
        </p:nvGraphicFramePr>
        <p:xfrm>
          <a:off x="379429" y="242218"/>
          <a:ext cx="6219491" cy="6796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6525">
                  <a:extLst>
                    <a:ext uri="{9D8B030D-6E8A-4147-A177-3AD203B41FA5}">
                      <a16:colId xmlns:a16="http://schemas.microsoft.com/office/drawing/2014/main" val="4155524957"/>
                    </a:ext>
                  </a:extLst>
                </a:gridCol>
                <a:gridCol w="4069235">
                  <a:extLst>
                    <a:ext uri="{9D8B030D-6E8A-4147-A177-3AD203B41FA5}">
                      <a16:colId xmlns:a16="http://schemas.microsoft.com/office/drawing/2014/main" val="3768397891"/>
                    </a:ext>
                  </a:extLst>
                </a:gridCol>
                <a:gridCol w="1103731">
                  <a:extLst>
                    <a:ext uri="{9D8B030D-6E8A-4147-A177-3AD203B41FA5}">
                      <a16:colId xmlns:a16="http://schemas.microsoft.com/office/drawing/2014/main" val="3344634442"/>
                    </a:ext>
                  </a:extLst>
                </a:gridCol>
              </a:tblGrid>
              <a:tr h="679631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OOO</a:t>
                      </a:r>
                      <a:r>
                        <a:rPr lang="ko-KR" altLang="en-US" sz="1000" b="1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청</a:t>
                      </a:r>
                      <a:endParaRPr lang="en-US" altLang="ko-KR" sz="1000" b="1" dirty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b="1" dirty="0" err="1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소하천</a:t>
                      </a:r>
                      <a:r>
                        <a:rPr lang="ko-KR" altLang="en-US" sz="3200" b="1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현황</a:t>
                      </a:r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25. 9. 3 (</a:t>
                      </a:r>
                      <a:r>
                        <a:rPr lang="ko-KR" altLang="en-US" sz="1200" b="1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수</a:t>
                      </a:r>
                      <a:r>
                        <a:rPr lang="en-US" altLang="ko-KR" sz="1200" b="1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)</a:t>
                      </a:r>
                      <a:endParaRPr lang="ko-KR" altLang="en-US" sz="1200" b="1" dirty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016084"/>
                  </a:ext>
                </a:extLst>
              </a:tr>
            </a:tbl>
          </a:graphicData>
        </a:graphic>
      </p:graphicFrame>
      <p:pic>
        <p:nvPicPr>
          <p:cNvPr id="17" name="그림 16">
            <a:extLst>
              <a:ext uri="{FF2B5EF4-FFF2-40B4-BE49-F238E27FC236}">
                <a16:creationId xmlns:a16="http://schemas.microsoft.com/office/drawing/2014/main" id="{5CF7501F-3108-F166-1DA8-1D2F11623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93" y="318123"/>
            <a:ext cx="377711" cy="370447"/>
          </a:xfrm>
          <a:prstGeom prst="rect">
            <a:avLst/>
          </a:prstGeom>
        </p:spPr>
      </p:pic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62C51D76-45F5-9FF2-3014-BF26F824F6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706990"/>
              </p:ext>
            </p:extLst>
          </p:nvPr>
        </p:nvGraphicFramePr>
        <p:xfrm>
          <a:off x="375105" y="922126"/>
          <a:ext cx="6219491" cy="4624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0921">
                  <a:extLst>
                    <a:ext uri="{9D8B030D-6E8A-4147-A177-3AD203B41FA5}">
                      <a16:colId xmlns:a16="http://schemas.microsoft.com/office/drawing/2014/main" val="3643397724"/>
                    </a:ext>
                  </a:extLst>
                </a:gridCol>
                <a:gridCol w="1113977">
                  <a:extLst>
                    <a:ext uri="{9D8B030D-6E8A-4147-A177-3AD203B41FA5}">
                      <a16:colId xmlns:a16="http://schemas.microsoft.com/office/drawing/2014/main" val="247736849"/>
                    </a:ext>
                  </a:extLst>
                </a:gridCol>
                <a:gridCol w="2034616">
                  <a:extLst>
                    <a:ext uri="{9D8B030D-6E8A-4147-A177-3AD203B41FA5}">
                      <a16:colId xmlns:a16="http://schemas.microsoft.com/office/drawing/2014/main" val="140703352"/>
                    </a:ext>
                  </a:extLst>
                </a:gridCol>
                <a:gridCol w="911436">
                  <a:extLst>
                    <a:ext uri="{9D8B030D-6E8A-4147-A177-3AD203B41FA5}">
                      <a16:colId xmlns:a16="http://schemas.microsoft.com/office/drawing/2014/main" val="2040066888"/>
                    </a:ext>
                  </a:extLst>
                </a:gridCol>
                <a:gridCol w="1108541">
                  <a:extLst>
                    <a:ext uri="{9D8B030D-6E8A-4147-A177-3AD203B41FA5}">
                      <a16:colId xmlns:a16="http://schemas.microsoft.com/office/drawing/2014/main" val="804385099"/>
                    </a:ext>
                  </a:extLst>
                </a:gridCol>
              </a:tblGrid>
              <a:tr h="231249">
                <a:tc rowSpan="3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OOO</a:t>
                      </a:r>
                      <a:r>
                        <a:rPr lang="ko-KR" altLang="en-US" sz="1200" b="1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과</a:t>
                      </a:r>
                      <a:br>
                        <a:rPr lang="en-US" altLang="ko-KR" sz="1200" b="1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</a:br>
                      <a:r>
                        <a:rPr lang="en-US" altLang="ko-KR" sz="1200" b="1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OO </a:t>
                      </a:r>
                      <a:r>
                        <a:rPr lang="ko-KR" altLang="en-US" sz="1200" b="1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과    장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O </a:t>
                      </a:r>
                      <a:r>
                        <a:rPr lang="en-US" altLang="ko-KR" sz="1200" dirty="0" err="1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O</a:t>
                      </a:r>
                      <a:r>
                        <a:rPr lang="en-US" altLang="ko-KR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</a:t>
                      </a:r>
                      <a:r>
                        <a:rPr lang="en-US" altLang="ko-KR" sz="1200" dirty="0" err="1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O</a:t>
                      </a:r>
                      <a:endParaRPr lang="en-US" altLang="ko-KR" sz="1200" dirty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전 화</a:t>
                      </a:r>
                      <a:endParaRPr lang="en-US" altLang="ko-KR" sz="1200" b="1" dirty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000-000-0000</a:t>
                      </a:r>
                      <a:endParaRPr lang="ko-KR" altLang="en-US" sz="1000" b="1" dirty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465381"/>
                  </a:ext>
                </a:extLst>
              </a:tr>
              <a:tr h="321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담당자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O </a:t>
                      </a:r>
                      <a:r>
                        <a:rPr lang="en-US" altLang="ko-KR" sz="1200" dirty="0" err="1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O</a:t>
                      </a:r>
                      <a:r>
                        <a:rPr lang="en-US" altLang="ko-KR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</a:t>
                      </a:r>
                      <a:r>
                        <a:rPr lang="en-US" altLang="ko-KR" sz="1200" dirty="0" err="1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O</a:t>
                      </a:r>
                      <a:endParaRPr lang="ko-KR" alt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6656"/>
                  </a:ext>
                </a:extLst>
              </a:tr>
              <a:tr h="1991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000-000-0000</a:t>
                      </a:r>
                      <a:endParaRPr lang="ko-KR" altLang="en-US" sz="800" b="1" dirty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4640151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6C532B17-B4C8-5F49-9A4D-FC1366A45E7C}"/>
              </a:ext>
            </a:extLst>
          </p:cNvPr>
          <p:cNvSpPr txBox="1"/>
          <p:nvPr/>
        </p:nvSpPr>
        <p:spPr>
          <a:xfrm>
            <a:off x="299914" y="7248431"/>
            <a:ext cx="11945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□</a:t>
            </a:r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 24</a:t>
            </a:r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시간 예보</a:t>
            </a:r>
            <a:endParaRPr lang="en-US" altLang="ko-KR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F3FA02C-5B06-03E8-9815-61D4F9A203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81" y="7631202"/>
            <a:ext cx="6014176" cy="1302389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A012C97-1CFF-939A-02C0-C72CD7C03FF7}"/>
              </a:ext>
            </a:extLst>
          </p:cNvPr>
          <p:cNvCxnSpPr>
            <a:cxnSpLocks/>
          </p:cNvCxnSpPr>
          <p:nvPr/>
        </p:nvCxnSpPr>
        <p:spPr>
          <a:xfrm>
            <a:off x="397435" y="7743102"/>
            <a:ext cx="61670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C3197796-623A-B4E0-74D5-B442419E6425}"/>
              </a:ext>
            </a:extLst>
          </p:cNvPr>
          <p:cNvSpPr/>
          <p:nvPr/>
        </p:nvSpPr>
        <p:spPr>
          <a:xfrm>
            <a:off x="442123" y="8017364"/>
            <a:ext cx="5994000" cy="500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BC73219-156B-7FA2-9A79-D0D8D56824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049" y="8018080"/>
            <a:ext cx="6069493" cy="46672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84F503D6-EE0C-15B4-1E43-05BEC5C55476}"/>
              </a:ext>
            </a:extLst>
          </p:cNvPr>
          <p:cNvSpPr/>
          <p:nvPr/>
        </p:nvSpPr>
        <p:spPr>
          <a:xfrm>
            <a:off x="366630" y="8517205"/>
            <a:ext cx="5994000" cy="500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7059832-4C4E-8254-A2B8-496B344338F3}"/>
              </a:ext>
            </a:extLst>
          </p:cNvPr>
          <p:cNvCxnSpPr>
            <a:cxnSpLocks/>
            <a:endCxn id="16" idx="3"/>
          </p:cNvCxnSpPr>
          <p:nvPr/>
        </p:nvCxnSpPr>
        <p:spPr>
          <a:xfrm flipV="1">
            <a:off x="399291" y="8008689"/>
            <a:ext cx="6165239" cy="137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0AFA83C-0EDC-E424-7335-4496D8EE3288}"/>
              </a:ext>
            </a:extLst>
          </p:cNvPr>
          <p:cNvCxnSpPr>
            <a:cxnSpLocks/>
          </p:cNvCxnSpPr>
          <p:nvPr/>
        </p:nvCxnSpPr>
        <p:spPr>
          <a:xfrm>
            <a:off x="423439" y="8498204"/>
            <a:ext cx="60194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E8F32A4-6266-1988-C2E4-DC0C3BD6FECC}"/>
              </a:ext>
            </a:extLst>
          </p:cNvPr>
          <p:cNvSpPr/>
          <p:nvPr/>
        </p:nvSpPr>
        <p:spPr>
          <a:xfrm>
            <a:off x="389049" y="7519450"/>
            <a:ext cx="6175481" cy="9784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8072FE-F3EB-3D3D-D891-328DEFD400FE}"/>
              </a:ext>
            </a:extLst>
          </p:cNvPr>
          <p:cNvSpPr txBox="1"/>
          <p:nvPr/>
        </p:nvSpPr>
        <p:spPr>
          <a:xfrm>
            <a:off x="326315" y="8636720"/>
            <a:ext cx="20233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□</a:t>
            </a:r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기상특보목록 </a:t>
            </a:r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최근 </a:t>
            </a:r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3</a:t>
            </a:r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건</a:t>
            </a:r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DCEDD4CD-4FD7-5298-BBF4-B7C5E68949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205600"/>
              </p:ext>
            </p:extLst>
          </p:nvPr>
        </p:nvGraphicFramePr>
        <p:xfrm>
          <a:off x="419629" y="8927650"/>
          <a:ext cx="6175481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6019">
                  <a:extLst>
                    <a:ext uri="{9D8B030D-6E8A-4147-A177-3AD203B41FA5}">
                      <a16:colId xmlns:a16="http://schemas.microsoft.com/office/drawing/2014/main" val="1672999003"/>
                    </a:ext>
                  </a:extLst>
                </a:gridCol>
                <a:gridCol w="4719462">
                  <a:extLst>
                    <a:ext uri="{9D8B030D-6E8A-4147-A177-3AD203B41FA5}">
                      <a16:colId xmlns:a16="http://schemas.microsoft.com/office/drawing/2014/main" val="1091712235"/>
                    </a:ext>
                  </a:extLst>
                </a:gridCol>
              </a:tblGrid>
              <a:tr h="1915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발표시각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/>
                        <a:t>특</a:t>
                      </a:r>
                      <a:r>
                        <a:rPr lang="ko-KR" altLang="en-US" sz="900" b="1" dirty="0"/>
                        <a:t> 보 현 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618713"/>
                  </a:ext>
                </a:extLst>
              </a:tr>
              <a:tr h="1915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2025-09-02 12:15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[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</a:rPr>
                        <a:t>특보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] 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09-12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</a:rPr>
                        <a:t>호 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: 2025.09.02.12:15 / 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</a:rPr>
                        <a:t>호우주의보 발표 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(*)</a:t>
                      </a:r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2313863"/>
                  </a:ext>
                </a:extLst>
              </a:tr>
              <a:tr h="1915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2025-09-02 11:50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[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</a:rPr>
                        <a:t>특보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] 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09-11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</a:rPr>
                        <a:t>호 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: 2025.09.02.11:50 / 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</a:rPr>
                        <a:t>호우경보 변경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·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</a:rPr>
                        <a:t>호우주의보 발표 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(*)</a:t>
                      </a:r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5270186"/>
                  </a:ext>
                </a:extLst>
              </a:tr>
              <a:tr h="1915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2025-09-02 11:20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[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</a:rPr>
                        <a:t>특보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] 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09-10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</a:rPr>
                        <a:t>호 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: 2025.09.02.11:20 / 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</a:rPr>
                        <a:t>호우주의보 발표 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(*)</a:t>
                      </a:r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20255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C0D2121-4184-64CA-AE0C-0CD59FB714B9}"/>
              </a:ext>
            </a:extLst>
          </p:cNvPr>
          <p:cNvSpPr txBox="1"/>
          <p:nvPr/>
        </p:nvSpPr>
        <p:spPr>
          <a:xfrm>
            <a:off x="5016306" y="9661574"/>
            <a:ext cx="14830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굴림" panose="020B0600000101010101" pitchFamily="50" charset="-127"/>
                <a:ea typeface="굴림" panose="020B0600000101010101" pitchFamily="50" charset="-127"/>
              </a:rPr>
              <a:t>2025-09-03 08:00:00 </a:t>
            </a:r>
            <a:r>
              <a:rPr lang="ko-KR" altLang="en-US" sz="800" dirty="0">
                <a:latin typeface="굴림" panose="020B0600000101010101" pitchFamily="50" charset="-127"/>
                <a:ea typeface="굴림" panose="020B0600000101010101" pitchFamily="50" charset="-127"/>
              </a:rPr>
              <a:t>기준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B8D00B4-083F-0238-6018-65D7528718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910049"/>
              </p:ext>
            </p:extLst>
          </p:nvPr>
        </p:nvGraphicFramePr>
        <p:xfrm>
          <a:off x="4472940" y="2089746"/>
          <a:ext cx="2125980" cy="21708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9696">
                  <a:extLst>
                    <a:ext uri="{9D8B030D-6E8A-4147-A177-3AD203B41FA5}">
                      <a16:colId xmlns:a16="http://schemas.microsoft.com/office/drawing/2014/main" val="2665734603"/>
                    </a:ext>
                  </a:extLst>
                </a:gridCol>
                <a:gridCol w="1396284">
                  <a:extLst>
                    <a:ext uri="{9D8B030D-6E8A-4147-A177-3AD203B41FA5}">
                      <a16:colId xmlns:a16="http://schemas.microsoft.com/office/drawing/2014/main" val="2214102283"/>
                    </a:ext>
                  </a:extLst>
                </a:gridCol>
              </a:tblGrid>
              <a:tr h="330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주    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OO</a:t>
                      </a:r>
                      <a:r>
                        <a:rPr lang="ko-KR" altLang="en-US" sz="900" b="0" dirty="0"/>
                        <a:t>시 </a:t>
                      </a:r>
                      <a:r>
                        <a:rPr lang="en-US" altLang="ko-KR" sz="900" b="0" dirty="0"/>
                        <a:t>OOO</a:t>
                      </a:r>
                      <a:r>
                        <a:rPr lang="ko-KR" altLang="en-US" sz="900" b="0" dirty="0"/>
                        <a:t>로 </a:t>
                      </a:r>
                      <a:r>
                        <a:rPr lang="en-US" altLang="ko-KR" sz="900" b="0" dirty="0"/>
                        <a:t>100</a:t>
                      </a:r>
                      <a:r>
                        <a:rPr lang="ko-KR" altLang="en-US" sz="900" b="0" dirty="0" err="1"/>
                        <a:t>번길</a:t>
                      </a:r>
                      <a:endParaRPr lang="ko-KR" altLang="en-US" sz="9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658373"/>
                  </a:ext>
                </a:extLst>
              </a:tr>
              <a:tr h="32446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위도</a:t>
                      </a:r>
                      <a:r>
                        <a:rPr lang="en-US" altLang="ko-KR" sz="900" b="1" dirty="0"/>
                        <a:t> /</a:t>
                      </a:r>
                      <a:r>
                        <a:rPr lang="ko-KR" altLang="en-US" sz="900" b="1" dirty="0"/>
                        <a:t>경도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37.5665 /126.9870</a:t>
                      </a:r>
                      <a:endParaRPr lang="ko-KR" altLang="en-US" sz="10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7576339"/>
                  </a:ext>
                </a:extLst>
              </a:tr>
              <a:tr h="3031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다리 높이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3.0 m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1739944"/>
                  </a:ext>
                </a:extLst>
              </a:tr>
              <a:tr h="30315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현재 수위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0.5 m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601065"/>
                  </a:ext>
                </a:extLst>
              </a:tr>
              <a:tr h="30315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심각</a:t>
                      </a:r>
                      <a:r>
                        <a:rPr lang="en-US" altLang="ko-KR" sz="900" b="1" dirty="0"/>
                        <a:t>(90%)</a:t>
                      </a:r>
                      <a:endParaRPr lang="ko-KR" altLang="en-US" sz="9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2.7 m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407505"/>
                  </a:ext>
                </a:extLst>
              </a:tr>
              <a:tr h="30315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경계</a:t>
                      </a:r>
                      <a:r>
                        <a:rPr lang="en-US" altLang="ko-KR" sz="900" b="1" dirty="0"/>
                        <a:t>(80%)</a:t>
                      </a:r>
                      <a:endParaRPr lang="ko-KR" altLang="en-US" sz="9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2.4 m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019819"/>
                  </a:ext>
                </a:extLst>
              </a:tr>
              <a:tr h="3031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주의</a:t>
                      </a:r>
                      <a:r>
                        <a:rPr lang="en-US" altLang="ko-KR" sz="900" b="1" dirty="0"/>
                        <a:t>(70%)</a:t>
                      </a:r>
                      <a:endParaRPr lang="ko-KR" altLang="en-US" sz="9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2.1 m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963466"/>
                  </a:ext>
                </a:extLst>
              </a:tr>
            </a:tbl>
          </a:graphicData>
        </a:graphic>
      </p:graphicFrame>
      <p:pic>
        <p:nvPicPr>
          <p:cNvPr id="7" name="Picture 4" descr="중도일보 - 폭우 때 충청권 하천 수위 급상승 첫 확인… 18곳 홍수위 넘어서">
            <a:extLst>
              <a:ext uri="{FF2B5EF4-FFF2-40B4-BE49-F238E27FC236}">
                <a16:creationId xmlns:a16="http://schemas.microsoft.com/office/drawing/2014/main" id="{DC14EE3E-82D1-8D6E-16A0-36932367F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48" y="4743078"/>
            <a:ext cx="3460825" cy="234234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1D7531-361F-1A03-098E-7F48C40D379E}"/>
              </a:ext>
            </a:extLst>
          </p:cNvPr>
          <p:cNvSpPr txBox="1"/>
          <p:nvPr/>
        </p:nvSpPr>
        <p:spPr>
          <a:xfrm>
            <a:off x="307265" y="4438664"/>
            <a:ext cx="2310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□ 시간별 수위 변화량</a:t>
            </a:r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(72</a:t>
            </a:r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시간</a:t>
            </a:r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endParaRPr lang="en-US" altLang="ko-KR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A9A84394-12C0-B0B4-6665-C77BECA33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005310"/>
              </p:ext>
            </p:extLst>
          </p:nvPr>
        </p:nvGraphicFramePr>
        <p:xfrm>
          <a:off x="3920490" y="4732736"/>
          <a:ext cx="2667001" cy="23526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7414">
                  <a:extLst>
                    <a:ext uri="{9D8B030D-6E8A-4147-A177-3AD203B41FA5}">
                      <a16:colId xmlns:a16="http://schemas.microsoft.com/office/drawing/2014/main" val="89983726"/>
                    </a:ext>
                  </a:extLst>
                </a:gridCol>
                <a:gridCol w="666529">
                  <a:extLst>
                    <a:ext uri="{9D8B030D-6E8A-4147-A177-3AD203B41FA5}">
                      <a16:colId xmlns:a16="http://schemas.microsoft.com/office/drawing/2014/main" val="2884391711"/>
                    </a:ext>
                  </a:extLst>
                </a:gridCol>
                <a:gridCol w="666529">
                  <a:extLst>
                    <a:ext uri="{9D8B030D-6E8A-4147-A177-3AD203B41FA5}">
                      <a16:colId xmlns:a16="http://schemas.microsoft.com/office/drawing/2014/main" val="1891459324"/>
                    </a:ext>
                  </a:extLst>
                </a:gridCol>
                <a:gridCol w="666529">
                  <a:extLst>
                    <a:ext uri="{9D8B030D-6E8A-4147-A177-3AD203B41FA5}">
                      <a16:colId xmlns:a16="http://schemas.microsoft.com/office/drawing/2014/main" val="3550893828"/>
                    </a:ext>
                  </a:extLst>
                </a:gridCol>
              </a:tblGrid>
              <a:tr h="1648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/>
                        <a:t>일    시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/>
                        <a:t>수 위 </a:t>
                      </a:r>
                      <a:r>
                        <a:rPr lang="en-US" altLang="ko-KR" sz="700" b="1" dirty="0"/>
                        <a:t>(</a:t>
                      </a:r>
                      <a:r>
                        <a:rPr lang="en-US" altLang="ko-KR" sz="700" b="1" dirty="0" err="1"/>
                        <a:t>El.m</a:t>
                      </a:r>
                      <a:r>
                        <a:rPr lang="en-US" altLang="ko-KR" sz="700" b="1" dirty="0"/>
                        <a:t>)</a:t>
                      </a:r>
                      <a:endParaRPr lang="ko-KR" altLang="en-US" sz="700" b="1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/>
                        <a:t>유 속 </a:t>
                      </a:r>
                      <a:r>
                        <a:rPr lang="en-US" altLang="ko-KR" sz="700" b="1" dirty="0"/>
                        <a:t>(m/s)</a:t>
                      </a:r>
                      <a:endParaRPr lang="ko-KR" altLang="en-US" sz="700" b="1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/>
                        <a:t>유 량 </a:t>
                      </a:r>
                      <a:r>
                        <a:rPr lang="en-US" altLang="ko-KR" sz="700" b="1" dirty="0"/>
                        <a:t>(</a:t>
                      </a:r>
                      <a:r>
                        <a:rPr lang="ko-KR" altLang="en-US" sz="700" b="1" dirty="0"/>
                        <a:t>㎥</a:t>
                      </a:r>
                      <a:r>
                        <a:rPr lang="en-US" altLang="ko-KR" sz="700" b="1" dirty="0"/>
                        <a:t>/s)</a:t>
                      </a:r>
                      <a:endParaRPr lang="ko-KR" altLang="en-US" sz="700" b="1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7170940"/>
                  </a:ext>
                </a:extLst>
              </a:tr>
              <a:tr h="164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/>
                        <a:t>66</a:t>
                      </a:r>
                      <a:r>
                        <a:rPr lang="ko-KR" altLang="en-US" sz="700" b="1" dirty="0"/>
                        <a:t>시간 전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270.512</a:t>
                      </a:r>
                      <a:endParaRPr lang="ko-KR" altLang="en-US" sz="7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0.209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0.029</a:t>
                      </a:r>
                      <a:endParaRPr lang="ko-KR" altLang="en-US" sz="7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817678"/>
                  </a:ext>
                </a:extLst>
              </a:tr>
              <a:tr h="164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/>
                        <a:t>60</a:t>
                      </a:r>
                      <a:r>
                        <a:rPr lang="ko-KR" altLang="en-US" sz="700" b="1" dirty="0"/>
                        <a:t>시간 전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270.498</a:t>
                      </a:r>
                      <a:endParaRPr lang="ko-KR" altLang="en-US" sz="7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0.208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0.028</a:t>
                      </a:r>
                      <a:endParaRPr lang="ko-KR" altLang="en-US" sz="7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2284953"/>
                  </a:ext>
                </a:extLst>
              </a:tr>
              <a:tr h="164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/>
                        <a:t>54</a:t>
                      </a:r>
                      <a:r>
                        <a:rPr lang="ko-KR" altLang="en-US" sz="700" b="1" dirty="0"/>
                        <a:t>시간 전 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270.457</a:t>
                      </a:r>
                      <a:endParaRPr lang="ko-KR" altLang="en-US" sz="7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0.202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0.022</a:t>
                      </a:r>
                      <a:endParaRPr lang="ko-KR" altLang="en-US" sz="7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7878978"/>
                  </a:ext>
                </a:extLst>
              </a:tr>
              <a:tr h="16481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dirty="0"/>
                        <a:t>48</a:t>
                      </a:r>
                      <a:r>
                        <a:rPr lang="ko-KR" altLang="en-US" sz="700" b="1" dirty="0"/>
                        <a:t>시간 전 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270.402</a:t>
                      </a:r>
                      <a:endParaRPr lang="ko-KR" altLang="en-US" sz="7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0.205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0.025</a:t>
                      </a:r>
                      <a:endParaRPr lang="ko-KR" altLang="en-US" sz="7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738088"/>
                  </a:ext>
                </a:extLst>
              </a:tr>
              <a:tr h="16481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dirty="0"/>
                        <a:t>42</a:t>
                      </a:r>
                      <a:r>
                        <a:rPr lang="ko-KR" altLang="en-US" sz="700" b="1" dirty="0"/>
                        <a:t>시간 전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270.354</a:t>
                      </a:r>
                      <a:endParaRPr lang="ko-KR" altLang="en-US" sz="7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0.209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0.029</a:t>
                      </a:r>
                      <a:endParaRPr lang="ko-KR" altLang="en-US" sz="7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112932"/>
                  </a:ext>
                </a:extLst>
              </a:tr>
              <a:tr h="16481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dirty="0"/>
                        <a:t>36</a:t>
                      </a:r>
                      <a:r>
                        <a:rPr lang="ko-KR" altLang="en-US" sz="700" b="1" dirty="0"/>
                        <a:t>시간 전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270.217</a:t>
                      </a:r>
                      <a:endParaRPr lang="ko-KR" altLang="en-US" sz="7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0.204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0.024</a:t>
                      </a:r>
                      <a:endParaRPr lang="ko-KR" altLang="en-US" sz="7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24614"/>
                  </a:ext>
                </a:extLst>
              </a:tr>
              <a:tr h="16481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dirty="0"/>
                        <a:t>28</a:t>
                      </a:r>
                      <a:r>
                        <a:rPr lang="ko-KR" altLang="en-US" sz="700" b="1" dirty="0"/>
                        <a:t>시간 전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270.189</a:t>
                      </a:r>
                      <a:endParaRPr lang="ko-KR" altLang="en-US" sz="7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0.207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0.027</a:t>
                      </a:r>
                      <a:endParaRPr lang="ko-KR" altLang="en-US" sz="7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0286632"/>
                  </a:ext>
                </a:extLst>
              </a:tr>
              <a:tr h="16481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dirty="0"/>
                        <a:t>24</a:t>
                      </a:r>
                      <a:r>
                        <a:rPr lang="ko-KR" altLang="en-US" sz="700" b="1" dirty="0"/>
                        <a:t>시간 전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270.189</a:t>
                      </a:r>
                      <a:endParaRPr lang="ko-KR" altLang="en-US" sz="7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0.207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0.027</a:t>
                      </a:r>
                      <a:endParaRPr lang="ko-KR" altLang="en-US" sz="7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1977300"/>
                  </a:ext>
                </a:extLst>
              </a:tr>
              <a:tr h="16481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dirty="0"/>
                        <a:t>18</a:t>
                      </a:r>
                      <a:r>
                        <a:rPr lang="ko-KR" altLang="en-US" sz="700" b="1" dirty="0"/>
                        <a:t>시간 전 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270.174</a:t>
                      </a:r>
                      <a:endParaRPr lang="ko-KR" altLang="en-US" sz="7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0.207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0.027</a:t>
                      </a:r>
                      <a:endParaRPr lang="ko-KR" altLang="en-US" sz="7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636993"/>
                  </a:ext>
                </a:extLst>
              </a:tr>
              <a:tr h="16481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dirty="0"/>
                        <a:t>12</a:t>
                      </a:r>
                      <a:r>
                        <a:rPr lang="ko-KR" altLang="en-US" sz="700" b="1" dirty="0"/>
                        <a:t>시간 전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270.174</a:t>
                      </a:r>
                      <a:endParaRPr lang="ko-KR" altLang="en-US" sz="7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0.207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0.027</a:t>
                      </a:r>
                      <a:endParaRPr lang="ko-KR" altLang="en-US" sz="7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6730746"/>
                  </a:ext>
                </a:extLst>
              </a:tr>
              <a:tr h="16481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dirty="0"/>
                        <a:t>6</a:t>
                      </a:r>
                      <a:r>
                        <a:rPr lang="ko-KR" altLang="en-US" sz="700" b="1" dirty="0"/>
                        <a:t>시간 전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270.165</a:t>
                      </a:r>
                      <a:endParaRPr lang="ko-KR" altLang="en-US" sz="7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0.200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0.020</a:t>
                      </a:r>
                      <a:endParaRPr lang="ko-KR" altLang="en-US" sz="7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1516805"/>
                  </a:ext>
                </a:extLst>
              </a:tr>
              <a:tr h="16481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/>
                        <a:t>현 재 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270.165</a:t>
                      </a:r>
                      <a:endParaRPr lang="ko-KR" altLang="en-US" sz="7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0.200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/>
                        <a:t>0.020</a:t>
                      </a:r>
                      <a:endParaRPr lang="ko-KR" altLang="en-US" sz="7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902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9661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288</TotalTime>
  <Words>241</Words>
  <Application>Microsoft Office PowerPoint</Application>
  <PresentationFormat>A4 용지(210x297mm)</PresentationFormat>
  <Paragraphs>91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굴림</vt:lpstr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lee</cp:lastModifiedBy>
  <cp:revision>17</cp:revision>
  <dcterms:created xsi:type="dcterms:W3CDTF">2025-09-02T23:53:51Z</dcterms:created>
  <dcterms:modified xsi:type="dcterms:W3CDTF">2025-09-03T12:15:44Z</dcterms:modified>
</cp:coreProperties>
</file>